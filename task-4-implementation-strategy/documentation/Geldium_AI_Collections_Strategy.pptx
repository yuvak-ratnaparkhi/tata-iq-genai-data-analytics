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GELDIUM FINANCE  ·  EXECUTIVE BRIEFING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Collections Strategy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Leveraging agentic AI for scalable, fair, and effective debt management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2194560" cy="0"/>
          </a:xfrm>
          <a:prstGeom prst="line">
            <a:avLst/>
          </a:prstGeom>
          <a:noFill/>
          <a:ln w="31750">
            <a:solidFill>
              <a:srgbClr val="3D5A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989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Consultant, Tata iQ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6309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Geldium Leadership Team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 loop from customer data to autonomous action to measurable improvement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487168" cy="3246120"/>
          </a:xfrm>
          <a:prstGeom prst="roundRect">
            <a:avLst>
              <a:gd name="adj" fmla="val 294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17904" y="21945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8099" y="238475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10896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Pipeline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212140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demographics, repayment history, credit utilization, and real-time payment activity.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127248" y="317754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5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383280" y="1874520"/>
            <a:ext cx="2487168" cy="3246120"/>
          </a:xfrm>
          <a:prstGeom prst="roundRect">
            <a:avLst>
              <a:gd name="adj" fmla="val 294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61104" y="21945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299" y="238475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310896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Decision Engine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566160" y="3611880"/>
            <a:ext cx="212140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predictive risk scores with business rules to determine the optimal next action.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870448" y="317754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5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126480" y="1874520"/>
            <a:ext cx="2487168" cy="3246120"/>
          </a:xfrm>
          <a:prstGeom prst="roundRect">
            <a:avLst>
              <a:gd name="adj" fmla="val 294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04304" y="21945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4499" y="2384755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63640" y="310896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Action Layer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309360" y="3611880"/>
            <a:ext cx="212140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the intervention — reminder, deferral offer, hardship support, or case escalation.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613648" y="317754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5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8869680" y="1874520"/>
            <a:ext cx="2487168" cy="3246120"/>
          </a:xfrm>
          <a:prstGeom prst="roundRect">
            <a:avLst>
              <a:gd name="adj" fmla="val 294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747504" y="21945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7699" y="2384755"/>
            <a:ext cx="351130" cy="35113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06840" y="310896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Learning Loop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9052560" y="3611880"/>
            <a:ext cx="212140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repayment outcomes and engagement, feeding results back to refine future decisions.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40080" y="5440680"/>
            <a:ext cx="10716768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28" name="Text 22"/>
          <p:cNvSpPr/>
          <p:nvPr/>
        </p:nvSpPr>
        <p:spPr>
          <a:xfrm>
            <a:off x="914400" y="5440680"/>
            <a:ext cx="101681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from the Learning Loop feed directly back into the Decision Engine — the system gets smarter with every case it handles.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of Agentic AI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execution for scale, human judgment for complexity and risk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6636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83664"/>
            <a:ext cx="484632" cy="4846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676" y="2009668"/>
            <a:ext cx="232623" cy="2326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83080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(System-Led)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560320"/>
            <a:ext cx="5166360" cy="3657600"/>
          </a:xfrm>
          <a:prstGeom prst="roundRect">
            <a:avLst>
              <a:gd name="adj" fmla="val 20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14400" y="2788920"/>
            <a:ext cx="46177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standard payment reminders (SMS/email) based on due-date proximity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Adjusting outreach cadence for low-risk, stable-payment customers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risk-score updates as new transaction data arrives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and categorizing customer responses for the learning loop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080760" y="1783080"/>
            <a:ext cx="5166360" cy="685800"/>
          </a:xfrm>
          <a:prstGeom prst="roundRect">
            <a:avLst>
              <a:gd name="adj" fmla="val 10667"/>
            </a:avLst>
          </a:prstGeom>
          <a:solidFill>
            <a:srgbClr val="3D5AFE"/>
          </a:solidFill>
          <a:ln/>
        </p:spPr>
      </p:sp>
      <p:sp>
        <p:nvSpPr>
          <p:cNvPr id="11" name="Shape 8"/>
          <p:cNvSpPr/>
          <p:nvPr/>
        </p:nvSpPr>
        <p:spPr>
          <a:xfrm>
            <a:off x="6245352" y="1883664"/>
            <a:ext cx="484632" cy="4846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356" y="2009668"/>
            <a:ext cx="232623" cy="23262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58000" y="1783080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 (Reviewed)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080760" y="2560320"/>
            <a:ext cx="5166360" cy="3657600"/>
          </a:xfrm>
          <a:prstGeom prst="roundRect">
            <a:avLst>
              <a:gd name="adj" fmla="val 20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355080" y="2788920"/>
            <a:ext cx="46177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Approving hardship plans, deferrals, or interest adjustments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disputed cases or customer-flagged errors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Escalations where risk factors conflict or confidence is low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audits of fairness, bias, and regulatory compliance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 Guardrails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safeguards to ensure the system remains fair, explainable, and compliant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214" y="22576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7568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Audits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45920" y="2468880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Regularly test the model for disparate impact across age, income, and demographic groups; exclude proxy variables like location.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080760" y="187452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09360" y="21031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894" y="22576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207568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086600" y="2468880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SHAP-based explanations so every risk score can be traced to specific, understandable factors for customers and regulators.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11480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3434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214" y="449793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31596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45920" y="4709160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decisions against ECOA, GDPR, and FCA standards, with full audit trails of data and decision logic.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080760" y="411480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09360" y="43434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3894" y="449793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431596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086600" y="4709160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human approval for high-impact actions and provide customers a clear path to appeal automated outcomes.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Business Impact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performance gains paired with a stronger, fairer customer experience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6636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83664"/>
            <a:ext cx="484632" cy="4846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676" y="2009668"/>
            <a:ext cx="232623" cy="2326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83080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KPIs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560320"/>
            <a:ext cx="5166360" cy="3657600"/>
          </a:xfrm>
          <a:prstGeom prst="roundRect">
            <a:avLst>
              <a:gd name="adj" fmla="val 20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14400" y="2788920"/>
            <a:ext cx="46177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delinquency rate through earlier, targeted intervention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repayment recovery on early-stage at-risk accounts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cost-to-collect via automation of routine outreach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case handling with model-driven prioritization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080760" y="1783080"/>
            <a:ext cx="5166360" cy="685800"/>
          </a:xfrm>
          <a:prstGeom prst="roundRect">
            <a:avLst>
              <a:gd name="adj" fmla="val 10667"/>
            </a:avLst>
          </a:prstGeom>
          <a:solidFill>
            <a:srgbClr val="3D5AFE"/>
          </a:solidFill>
          <a:ln/>
        </p:spPr>
      </p:sp>
      <p:sp>
        <p:nvSpPr>
          <p:cNvPr id="11" name="Shape 8"/>
          <p:cNvSpPr/>
          <p:nvPr/>
        </p:nvSpPr>
        <p:spPr>
          <a:xfrm>
            <a:off x="6245352" y="1883664"/>
            <a:ext cx="484632" cy="4846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356" y="2009668"/>
            <a:ext cx="232623" cy="23262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58000" y="1783080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Outcomes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080760" y="2560320"/>
            <a:ext cx="5166360" cy="3657600"/>
          </a:xfrm>
          <a:prstGeom prst="roundRect">
            <a:avLst>
              <a:gd name="adj" fmla="val 20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355080" y="2788920"/>
            <a:ext cx="46177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personalized, empathetic outreach timed to individual circumstances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transparency in why a decision or offer was made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Fairer treatment through continuous bias monitoring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access to hardship support before accounts escalate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572000" cy="457200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141B4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1036930"/>
            <a:ext cx="395021" cy="395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920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Trust Into Every Decision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22960" y="269748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framework moves Geldium from static, manual collections to a scalable, adaptive system — one that acts quickly where appropriate, defers to human judgment where it matters, and remains fair, explainable, and compliant at every step.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4206240"/>
            <a:ext cx="10058400" cy="1737360"/>
          </a:xfrm>
          <a:prstGeom prst="roundRect">
            <a:avLst>
              <a:gd name="adj" fmla="val 4211"/>
            </a:avLst>
          </a:prstGeom>
          <a:solidFill>
            <a:srgbClr val="141B45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4206240"/>
            <a:ext cx="9418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the early-intervention program for high-utilization customers over one quarter, with review of delinquency and fairness metrics at the 90-day mark.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Collections Strategy</dc:title>
  <dc:subject>PptxGenJS Presentation</dc:subject>
  <dc:creator>AI Transformation Consultant, Tata iQ</dc:creator>
  <cp:lastModifiedBy>AI Transformation Consultant, Tata iQ</cp:lastModifiedBy>
  <cp:revision>1</cp:revision>
  <dcterms:created xsi:type="dcterms:W3CDTF">2026-07-04T14:24:37Z</dcterms:created>
  <dcterms:modified xsi:type="dcterms:W3CDTF">2026-07-04T14:24:37Z</dcterms:modified>
</cp:coreProperties>
</file>